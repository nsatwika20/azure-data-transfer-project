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Azure Data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Azure Import/Export and Data Box Design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t>Case study: migrating 50 TB of data to Microsoft Azure.</a:t>
            </a:r>
          </a:p>
          <a:p>
            <a:pPr>
              <a:spcAft>
                <a:spcPts val="1400"/>
              </a:spcAft>
              <a:defRPr sz="1900"/>
            </a:pPr>
            <a:r>
              <a:t>Focus: choosing an efficient and reliable migration method.</a:t>
            </a:r>
          </a:p>
          <a:p>
            <a:pPr>
              <a:spcAft>
                <a:spcPts val="1400"/>
              </a:spcAft>
              <a:defRPr sz="1900"/>
            </a:pPr>
            <a:r>
              <a:t>Key factors: time, bandwidth, security, cost and data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417320"/>
            <a:ext cx="4160520" cy="480060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50 TB → Azure</a:t>
            </a:r>
          </a:p>
          <a:p>
            <a:pPr algn="ctr">
              <a:spcAft>
                <a:spcPts val="1000"/>
              </a:spcAft>
              <a:defRPr sz="1600"/>
            </a:pPr>
            <a:r>
              <a:t>DATA SOURCE</a:t>
            </a:r>
          </a:p>
          <a:p>
            <a:pPr algn="ctr">
              <a:spcAft>
                <a:spcPts val="1000"/>
              </a:spcAft>
              <a:defRPr sz="1600"/>
            </a:pPr>
            <a:r>
              <a:t>↓</a:t>
            </a:r>
          </a:p>
          <a:p>
            <a:pPr algn="ctr">
              <a:spcAft>
                <a:spcPts val="1000"/>
              </a:spcAft>
              <a:defRPr sz="1600"/>
            </a:pPr>
            <a:r>
              <a:t>50 TB DATA</a:t>
            </a:r>
          </a:p>
          <a:p>
            <a:pPr algn="ctr">
              <a:spcAft>
                <a:spcPts val="1000"/>
              </a:spcAft>
              <a:defRPr sz="1600"/>
            </a:pPr>
            <a:r>
              <a:t>↓</a:t>
            </a:r>
          </a:p>
          <a:p>
            <a:pPr algn="ctr">
              <a:spcAft>
                <a:spcPts val="1000"/>
              </a:spcAft>
              <a:defRPr sz="1600"/>
            </a:pPr>
            <a:r>
              <a:t>MICROSOFT AZURE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Main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Why is this migration study needed?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t>Move a very large dataset to Azure safely and efficiently.</a:t>
            </a:r>
          </a:p>
          <a:p>
            <a:pPr>
              <a:spcAft>
                <a:spcPts val="1400"/>
              </a:spcAft>
              <a:defRPr sz="1900"/>
            </a:pPr>
            <a:r>
              <a:t>Compare online network transfer with physical shipment.</a:t>
            </a:r>
          </a:p>
          <a:p>
            <a:pPr>
              <a:spcAft>
                <a:spcPts val="1400"/>
              </a:spcAft>
              <a:defRPr sz="1900"/>
            </a:pPr>
            <a:r>
              <a:t>Reduce migration delays caused by limited bandwidth.</a:t>
            </a:r>
          </a:p>
          <a:p>
            <a:pPr>
              <a:spcAft>
                <a:spcPts val="1400"/>
              </a:spcAft>
              <a:defRPr sz="1900"/>
            </a:pPr>
            <a:r>
              <a:t>Verify that the data arrives complete and accurate.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417320"/>
            <a:ext cx="4160520" cy="480060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Migration Goal</a:t>
            </a:r>
          </a:p>
          <a:p>
            <a:pPr algn="ctr">
              <a:spcAft>
                <a:spcPts val="1000"/>
              </a:spcAft>
              <a:defRPr sz="1600"/>
            </a:pPr>
            <a:r>
              <a:t>Large Dataset</a:t>
            </a:r>
          </a:p>
          <a:p>
            <a:pPr algn="ctr">
              <a:spcAft>
                <a:spcPts val="1000"/>
              </a:spcAft>
              <a:defRPr sz="1600"/>
            </a:pPr>
            <a:r>
              <a:t>↓</a:t>
            </a:r>
          </a:p>
          <a:p>
            <a:pPr algn="ctr">
              <a:spcAft>
                <a:spcPts val="1000"/>
              </a:spcAft>
              <a:defRPr sz="1600"/>
            </a:pPr>
            <a:r>
              <a:t>Efficient Transfer</a:t>
            </a:r>
          </a:p>
          <a:p>
            <a:pPr algn="ctr">
              <a:spcAft>
                <a:spcPts val="1000"/>
              </a:spcAft>
              <a:defRPr sz="1600"/>
            </a:pPr>
            <a:r>
              <a:t>↓</a:t>
            </a:r>
          </a:p>
          <a:p>
            <a:pPr algn="ctr">
              <a:spcAft>
                <a:spcPts val="1000"/>
              </a:spcAft>
              <a:defRPr sz="1600"/>
            </a:pPr>
            <a:r>
              <a:t>Verified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Migration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Two approaches for transferring 50 TB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t>Network Transfer: sends data directly over the available network.</a:t>
            </a:r>
          </a:p>
          <a:p>
            <a:pPr>
              <a:spcAft>
                <a:spcPts val="1400"/>
              </a:spcAft>
              <a:defRPr sz="1900"/>
            </a:pPr>
            <a:r>
              <a:t>Azure Data Box: uses a physical device to transfer large datasets.</a:t>
            </a:r>
          </a:p>
          <a:p>
            <a:pPr>
              <a:spcAft>
                <a:spcPts val="1400"/>
              </a:spcAft>
              <a:defRPr sz="1900"/>
            </a:pPr>
            <a:r>
              <a:t>The appropriate option depends on bandwidth, time, security and logistics.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417320"/>
            <a:ext cx="4160520" cy="480060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Two Paths</a:t>
            </a:r>
          </a:p>
          <a:p>
            <a:pPr algn="ctr">
              <a:spcAft>
                <a:spcPts val="1000"/>
              </a:spcAft>
              <a:defRPr sz="1600"/>
            </a:pPr>
            <a:r>
              <a:t>🌐 Network</a:t>
            </a:r>
          </a:p>
          <a:p>
            <a:pPr algn="ctr">
              <a:spcAft>
                <a:spcPts val="1000"/>
              </a:spcAft>
              <a:defRPr sz="1600"/>
            </a:pPr>
            <a:r>
              <a:t>50 TB → Azure</a:t>
            </a:r>
          </a:p>
          <a:p>
            <a:pPr algn="ctr">
              <a:spcAft>
                <a:spcPts val="1000"/>
              </a:spcAft>
              <a:defRPr sz="1600"/>
            </a:pPr>
          </a:p>
          <a:p>
            <a:pPr algn="ctr">
              <a:spcAft>
                <a:spcPts val="1000"/>
              </a:spcAft>
              <a:defRPr sz="1600"/>
            </a:pPr>
            <a:r>
              <a:t>📦 Data Box</a:t>
            </a:r>
          </a:p>
          <a:p>
            <a:pPr algn="ctr">
              <a:spcAft>
                <a:spcPts val="1000"/>
              </a:spcAft>
              <a:defRPr sz="1600"/>
            </a:pPr>
            <a:r>
              <a:t>50 TB → Ship → Azure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Key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Important bottlenecks during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t>Bandwidth: available network speed can strongly affect transfer time.</a:t>
            </a:r>
          </a:p>
          <a:p>
            <a:pPr>
              <a:spcAft>
                <a:spcPts val="1400"/>
              </a:spcAft>
              <a:defRPr sz="1900"/>
            </a:pPr>
            <a:r>
              <a:t>Planning: real-world transfer time may differ from theoretical calculations.</a:t>
            </a:r>
          </a:p>
          <a:p>
            <a:pPr>
              <a:spcAft>
                <a:spcPts val="1400"/>
              </a:spcAft>
              <a:defRPr sz="1900"/>
            </a:pPr>
            <a:r>
              <a:t>Validation: migrated data must be checked after transfer.</a:t>
            </a:r>
          </a:p>
          <a:p>
            <a:pPr>
              <a:spcAft>
                <a:spcPts val="1400"/>
              </a:spcAft>
              <a:defRPr sz="1900"/>
            </a:pPr>
            <a:r>
              <a:t>Security: data should remain protected throughout the migration.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417320"/>
            <a:ext cx="4160520" cy="480060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Bottlenecks</a:t>
            </a:r>
          </a:p>
          <a:p>
            <a:pPr algn="ctr">
              <a:spcAft>
                <a:spcPts val="1000"/>
              </a:spcAft>
              <a:defRPr sz="1600"/>
            </a:pPr>
            <a:r>
              <a:t>Bandwidth</a:t>
            </a:r>
          </a:p>
          <a:p>
            <a:pPr algn="ctr">
              <a:spcAft>
                <a:spcPts val="1000"/>
              </a:spcAft>
              <a:defRPr sz="1600"/>
            </a:pPr>
            <a:r>
              <a:t>↓</a:t>
            </a:r>
          </a:p>
          <a:p>
            <a:pPr algn="ctr">
              <a:spcAft>
                <a:spcPts val="1000"/>
              </a:spcAft>
              <a:defRPr sz="1600"/>
            </a:pPr>
            <a:r>
              <a:t>Transfer Time</a:t>
            </a:r>
          </a:p>
          <a:p>
            <a:pPr algn="ctr">
              <a:spcAft>
                <a:spcPts val="1000"/>
              </a:spcAft>
              <a:defRPr sz="1600"/>
            </a:pPr>
            <a:r>
              <a:t>↓</a:t>
            </a:r>
          </a:p>
          <a:p>
            <a:pPr algn="ctr">
              <a:spcAft>
                <a:spcPts val="1000"/>
              </a:spcAft>
              <a:defRPr sz="1600"/>
            </a:pPr>
            <a:r>
              <a:t>Validation</a:t>
            </a:r>
          </a:p>
          <a:p>
            <a:pPr algn="ctr">
              <a:spcAft>
                <a:spcPts val="1000"/>
              </a:spcAft>
              <a:defRPr sz="1600"/>
            </a:pPr>
            <a:r>
              <a:t>↓</a:t>
            </a:r>
          </a:p>
          <a:p>
            <a:pPr algn="ctr">
              <a:spcAft>
                <a:spcPts val="1000"/>
              </a:spcAft>
              <a:defRPr sz="1600"/>
            </a:pPr>
            <a:r>
              <a:t>Reliable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Selecting the right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t>Network transfer can work well when sufficient bandwidth is available.</a:t>
            </a:r>
          </a:p>
          <a:p>
            <a:pPr>
              <a:spcAft>
                <a:spcPts val="1400"/>
              </a:spcAft>
              <a:defRPr sz="1900"/>
            </a:pPr>
            <a:r>
              <a:t>Azure Data Box is useful when moving very large datasets over the network is impractical.</a:t>
            </a:r>
          </a:p>
          <a:p>
            <a:pPr>
              <a:spcAft>
                <a:spcPts val="1400"/>
              </a:spcAft>
              <a:defRPr sz="1900"/>
            </a:pPr>
            <a:r>
              <a:t>The decision should consider transfer time, bandwidth, cost, security and validation.</a:t>
            </a:r>
          </a:p>
          <a:p>
            <a:pPr>
              <a:spcAft>
                <a:spcPts val="1400"/>
              </a:spcAft>
              <a:defRPr sz="1900"/>
            </a:pPr>
            <a:r>
              <a:t>Final goal: a fast, secure, reliable and accurate Azure migration.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417320"/>
            <a:ext cx="4160520" cy="480060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Decision Factors</a:t>
            </a:r>
          </a:p>
          <a:p>
            <a:pPr algn="ctr">
              <a:spcAft>
                <a:spcPts val="1000"/>
              </a:spcAft>
              <a:defRPr sz="1600"/>
            </a:pPr>
            <a:r>
              <a:t>⏱ Time</a:t>
            </a:r>
          </a:p>
          <a:p>
            <a:pPr algn="ctr">
              <a:spcAft>
                <a:spcPts val="1000"/>
              </a:spcAft>
              <a:defRPr sz="1600"/>
            </a:pPr>
            <a:r>
              <a:t>🌐 Bandwidth</a:t>
            </a:r>
          </a:p>
          <a:p>
            <a:pPr algn="ctr">
              <a:spcAft>
                <a:spcPts val="1000"/>
              </a:spcAft>
              <a:defRPr sz="1600"/>
            </a:pPr>
            <a:r>
              <a:t>💰 Cost</a:t>
            </a:r>
          </a:p>
          <a:p>
            <a:pPr algn="ctr">
              <a:spcAft>
                <a:spcPts val="1000"/>
              </a:spcAft>
              <a:defRPr sz="1600"/>
            </a:pPr>
            <a:r>
              <a:t>🔒 Security</a:t>
            </a:r>
          </a:p>
          <a:p>
            <a:pPr algn="ctr">
              <a:spcAft>
                <a:spcPts val="1000"/>
              </a:spcAft>
              <a:defRPr sz="1600"/>
            </a:pPr>
            <a:r>
              <a:t>✓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